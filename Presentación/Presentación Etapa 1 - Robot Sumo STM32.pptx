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3CBF36-0F64-4B16-8CED-C7A195A1680D}">
  <a:tblStyle styleId="{1A3CBF36-0F64-4B16-8CED-C7A195A168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SpaceGrotesk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3184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448300"/>
            <a:ext cx="10972800" cy="800100"/>
          </a:xfrm>
          <a:prstGeom prst="roundRect">
            <a:avLst>
              <a:gd fmla="val 19047" name="adj"/>
            </a:avLst>
          </a:prstGeom>
          <a:solidFill>
            <a:srgbClr val="8F2F56"/>
          </a:solidFill>
          <a:ln cap="flat" cmpd="sng" w="9525">
            <a:solidFill>
              <a:srgbClr val="A74F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609600"/>
            <a:ext cx="800100" cy="285750"/>
          </a:xfrm>
          <a:prstGeom prst="roundRect">
            <a:avLst>
              <a:gd fmla="val 50000" name="adj"/>
            </a:avLst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210925" y="666750"/>
            <a:ext cx="65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LIMEy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2664172"/>
            <a:ext cx="11251406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Robot Sumo Autónomo STM32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386137"/>
            <a:ext cx="1071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Sistemas Embebdos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666750"/>
            <a:ext cx="590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524000" y="661987"/>
            <a:ext cx="3464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SEP-DIC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85825" y="5648325"/>
            <a:ext cx="5179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REPOSITORIO GITHUB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85825" y="5838825"/>
            <a:ext cx="517921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SysEmb_RobotSumo_proyecto_LIMEy_SepDic2026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143875" y="5448312"/>
            <a:ext cx="3952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143875" y="5666562"/>
            <a:ext cx="395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Daniela Isabel Isassi Perez</a:t>
            </a:r>
            <a:endParaRPr sz="12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 Laura Jaime Gallegos</a:t>
            </a:r>
            <a:endParaRPr sz="12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Joana Resendiz Mayorga</a:t>
            </a:r>
            <a:endParaRPr sz="12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F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5781675"/>
            <a:ext cx="10972800" cy="542925"/>
          </a:xfrm>
          <a:prstGeom prst="roundRect">
            <a:avLst>
              <a:gd fmla="val 21052" name="adj"/>
            </a:avLst>
          </a:prstGeom>
          <a:solidFill>
            <a:srgbClr val="FCE7F3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1485900"/>
            <a:ext cx="3505200" cy="4295775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43400" y="1485900"/>
            <a:ext cx="3505200" cy="4295775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77200" y="1485900"/>
            <a:ext cx="3505200" cy="4295775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" y="1771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1771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2950" y="1771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18859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18859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2962" y="18859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PROBLEMÁTICA Y COMPLEJIDAD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 y Justificación Técnica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7725" y="5943600"/>
            <a:ext cx="113442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 cumplido: Control de 2 motores DC mediante PWM configurable y lectura de 2+ entradas de sensores.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95350" y="2343150"/>
            <a:ext cx="38504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Problemática de Tiempo Real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95350" y="2705100"/>
            <a:ext cx="30289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combate en dohyō exige decisiones inmediatas para evadir bordes y embestir al rival sin demoras de procesamiento.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29150" y="2343150"/>
            <a:ext cx="38504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Justificación STM32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629150" y="2705100"/>
            <a:ext cx="30289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ARM de 32 bits con timers avanzados para PWM rápido e interrupciones EXTI de baja latencia.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62950" y="2343150"/>
            <a:ext cx="3829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Alta Complejidad (100%)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362950" y="2705100"/>
            <a:ext cx="3028950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Cumple con la categoría de robot de competencia, superando con creces el requisito mínimo de actuadores.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2867025"/>
            <a:ext cx="3096815" cy="2114550"/>
          </a:xfrm>
          <a:prstGeom prst="roundRect">
            <a:avLst>
              <a:gd fmla="val 7207" name="adj"/>
            </a:avLst>
          </a:prstGeom>
          <a:solidFill>
            <a:srgbClr val="FFF1F2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287440" y="2895600"/>
            <a:ext cx="3617118" cy="2057400"/>
          </a:xfrm>
          <a:prstGeom prst="roundRect">
            <a:avLst>
              <a:gd fmla="val 7407" name="adj"/>
            </a:avLst>
          </a:prstGeom>
          <a:solidFill>
            <a:srgbClr val="FCE7F3"/>
          </a:solidFill>
          <a:ln cap="flat" cmpd="sng" w="1905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485584" y="2867025"/>
            <a:ext cx="3096815" cy="2114550"/>
          </a:xfrm>
          <a:prstGeom prst="roundRect">
            <a:avLst>
              <a:gd fmla="val 7207" name="adj"/>
            </a:avLst>
          </a:prstGeom>
          <a:solidFill>
            <a:srgbClr val="FFF1F2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57250" y="3400425"/>
            <a:ext cx="2601515" cy="619125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57250" y="4114800"/>
            <a:ext cx="2601515" cy="619125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535090" y="3429000"/>
            <a:ext cx="3121818" cy="1276350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 cap="flat" cmpd="sng" w="9525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733234" y="3400425"/>
            <a:ext cx="2601515" cy="619125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733234" y="4114800"/>
            <a:ext cx="2601515" cy="619125"/>
          </a:xfrm>
          <a:prstGeom prst="roundRect">
            <a:avLst>
              <a:gd fmla="val 12307" name="adj"/>
            </a:avLst>
          </a:prstGeom>
          <a:solidFill>
            <a:srgbClr val="FFFFFF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6915" y="38100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5059" y="38100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4550" y="362902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 HARDWARE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Diagrama de Bloques Técnico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57250" y="3114675"/>
            <a:ext cx="32518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ENTRADAS (SENSORES)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144863" y="3143250"/>
            <a:ext cx="390227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PROCESADOR CENTRAL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33234" y="3114675"/>
            <a:ext cx="32518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SALIDAS (ACTUADORES)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81075" y="3524250"/>
            <a:ext cx="29423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2x TCRT5000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81075" y="3724275"/>
            <a:ext cx="29423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digital de línea blanca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81075" y="4238625"/>
            <a:ext cx="29423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1x VL53L0X / HC-SR04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81075" y="4438650"/>
            <a:ext cx="29423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ToF de oponente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309839" y="4048125"/>
            <a:ext cx="357232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STM32 Microcontroller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394894" y="4333875"/>
            <a:ext cx="34022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 de Estado y PWM Hardware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857059" y="3524250"/>
            <a:ext cx="29423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Driver BTS7960 / L298N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857059" y="3724275"/>
            <a:ext cx="29423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Puente H de alta potencia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857059" y="4238625"/>
            <a:ext cx="29423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2x Motores DC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857059" y="4438650"/>
            <a:ext cx="29423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Tracción de alto torque con PWM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F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609600" y="2295525"/>
            <a:ext cx="10972800" cy="3181350"/>
          </a:xfrm>
          <a:prstGeom prst="roundRect">
            <a:avLst>
              <a:gd fmla="val 4790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19150" y="3095625"/>
            <a:ext cx="1443632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262782" y="3095625"/>
            <a:ext cx="5602783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865566" y="3095625"/>
            <a:ext cx="2106959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972526" y="3095625"/>
            <a:ext cx="1400323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819150" y="3824287"/>
            <a:ext cx="1443632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262782" y="3824287"/>
            <a:ext cx="560278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865566" y="3824287"/>
            <a:ext cx="2106959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972526" y="3824287"/>
            <a:ext cx="140032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19150" y="4538662"/>
            <a:ext cx="1443632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262782" y="4538662"/>
            <a:ext cx="560278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865566" y="4538662"/>
            <a:ext cx="2106959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9972526" y="4538662"/>
            <a:ext cx="140032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819150" y="5253037"/>
            <a:ext cx="1443632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262782" y="5253037"/>
            <a:ext cx="560278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865566" y="5253037"/>
            <a:ext cx="2106959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9972526" y="5253037"/>
            <a:ext cx="1400323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0143976" y="3367087"/>
            <a:ext cx="1057275" cy="247650"/>
          </a:xfrm>
          <a:prstGeom prst="roundRect">
            <a:avLst>
              <a:gd fmla="val 46153" name="adj"/>
            </a:avLst>
          </a:prstGeom>
          <a:solidFill>
            <a:srgbClr val="FCE7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0143976" y="4081462"/>
            <a:ext cx="942975" cy="247650"/>
          </a:xfrm>
          <a:prstGeom prst="roundRect">
            <a:avLst>
              <a:gd fmla="val 46153" name="adj"/>
            </a:avLst>
          </a:prstGeom>
          <a:solidFill>
            <a:srgbClr val="FF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143976" y="4795837"/>
            <a:ext cx="904875" cy="247650"/>
          </a:xfrm>
          <a:prstGeom prst="roundRect">
            <a:avLst>
              <a:gd fmla="val 4615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16"/>
          <p:cNvGraphicFramePr/>
          <p:nvPr/>
        </p:nvGraphicFramePr>
        <p:xfrm>
          <a:off x="819150" y="261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{1A3CBF36-0F64-4B16-8CED-C7A195A1680D}</a:tableStyleId>
              </a:tblPr>
              <a:tblGrid>
                <a:gridCol w="1443625"/>
                <a:gridCol w="5602775"/>
                <a:gridCol w="2106950"/>
                <a:gridCol w="1400325"/>
              </a:tblGrid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/ Etapa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Entregables Principales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Meta de Avance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Etapa 1 (Actual)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Propuesta inicial, arquitectura en GitHub, presupuesto y diagrama técnico.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de propuesta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Etapa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Prueba aislada del 75% de los módulos (PWM y sensores) + 50% prototipo físico.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75% Módulos / 50% Físico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Etapa 3 (Final)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Funcionamiento 100% autónomo en dohyō, prototipo completo y revisión de código.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Prototipo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TEMPORAL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Cronograma y Fechas Límite (Gantt)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258276" y="3405187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Completado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0258276" y="4119562"/>
            <a:ext cx="80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Proceso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0258276" y="4833937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Pendiente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609600" y="1928812"/>
            <a:ext cx="6149280" cy="3876675"/>
          </a:xfrm>
          <a:prstGeom prst="roundRect">
            <a:avLst>
              <a:gd fmla="val 3931" name="adj"/>
            </a:avLst>
          </a:prstGeom>
          <a:solidFill>
            <a:srgbClr val="FFF1F2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7063680" y="2686050"/>
            <a:ext cx="4518719" cy="2362200"/>
          </a:xfrm>
          <a:prstGeom prst="roundRect">
            <a:avLst>
              <a:gd fmla="val 6451" name="adj"/>
            </a:avLst>
          </a:prstGeom>
          <a:solidFill>
            <a:srgbClr val="FCE7F3"/>
          </a:solidFill>
          <a:ln cap="flat" cmpd="sng" w="19050">
            <a:solidFill>
              <a:srgbClr val="F47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781050" y="2909887"/>
            <a:ext cx="3298477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079527" y="2909887"/>
            <a:ext cx="809625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9152" y="2909887"/>
            <a:ext cx="1698277" cy="190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81050" y="3419475"/>
            <a:ext cx="32984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079527" y="3419475"/>
            <a:ext cx="809625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889152" y="3419475"/>
            <a:ext cx="16982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81050" y="3914775"/>
            <a:ext cx="32984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079527" y="3914775"/>
            <a:ext cx="809625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4889152" y="3914775"/>
            <a:ext cx="16982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781050" y="4629150"/>
            <a:ext cx="32984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079527" y="4629150"/>
            <a:ext cx="809625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4889152" y="4629150"/>
            <a:ext cx="16982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781050" y="5124450"/>
            <a:ext cx="32984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4079527" y="5124450"/>
            <a:ext cx="809625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4889152" y="5124450"/>
            <a:ext cx="16982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781050" y="5619750"/>
            <a:ext cx="32984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4079527" y="5619750"/>
            <a:ext cx="809625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4889152" y="5619750"/>
            <a:ext cx="169827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7"/>
          <p:cNvGraphicFramePr/>
          <p:nvPr/>
        </p:nvGraphicFramePr>
        <p:xfrm>
          <a:off x="781050" y="2214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{1A3CBF36-0F64-4B16-8CED-C7A195A1680D}</a:tableStyleId>
              </a:tblPr>
              <a:tblGrid>
                <a:gridCol w="3298475"/>
                <a:gridCol w="809625"/>
                <a:gridCol w="1698275"/>
              </a:tblGrid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Costo Est. (MXN)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E8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STM32F103 / BlackPill + ST-Link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$200.00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Driver Puente H BTS7960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$200.00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Motores DC Reductores de Alto Torque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$450.00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Sensores TCRT5000 + VL53L0X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$240.00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Chasis, Batería LiPo y Ruedas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$600.00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Y COSTOS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Presupuesto Estimado y Viabilidad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903653" y="3009900"/>
            <a:ext cx="48387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D17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COSTO TOTAL ESTIMADO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903653" y="3324225"/>
            <a:ext cx="4838774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~$1,690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6903653" y="4105275"/>
            <a:ext cx="48387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318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Alta Viabilidad Económica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903653" y="4381500"/>
            <a:ext cx="48387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Componentes comerciales de fácil reemplazo y disponibilidad inmediata.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1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609600" y="1524000"/>
            <a:ext cx="3505200" cy="48006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343400" y="1524000"/>
            <a:ext cx="3505200" cy="48006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8077200" y="1524000"/>
            <a:ext cx="3505200" cy="4800600"/>
          </a:xfrm>
          <a:prstGeom prst="roundRect">
            <a:avLst>
              <a:gd fmla="val 4347" name="adj"/>
            </a:avLst>
          </a:prstGeom>
          <a:solidFill>
            <a:srgbClr val="FFFFFF"/>
          </a:solidFill>
          <a:ln cap="flat" cmpd="sng" w="1905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" y="1809750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18097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2950" y="18097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C48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ESTADO ACTUAL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Evidencias y Avances Actuales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895350" y="2266950"/>
            <a:ext cx="38504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Estructura GitHub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95350" y="2590800"/>
            <a:ext cx="3028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Creado repositorio oficial con README.md base y la carpeta /presentacion organizada.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4629150" y="2266950"/>
            <a:ext cx="38504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Adquisición Hardware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4629150" y="2590800"/>
            <a:ext cx="3028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Microcontrolador STM32 y sensores de línea seleccionados y cotizados con proveedores.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362950" y="2266950"/>
            <a:ext cx="3829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31843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Configuración CubeIDE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362950" y="2590800"/>
            <a:ext cx="3028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Investigación inicial de mapeo de pines para PWM y asignación de canales de interrupción.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3184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1809750" y="3557587"/>
            <a:ext cx="2705100" cy="1304925"/>
          </a:xfrm>
          <a:prstGeom prst="roundRect">
            <a:avLst>
              <a:gd fmla="val 11678" name="adj"/>
            </a:avLst>
          </a:prstGeom>
          <a:solidFill>
            <a:srgbClr val="8F2F56"/>
          </a:solidFill>
          <a:ln cap="flat" cmpd="sng" w="9525">
            <a:solidFill>
              <a:srgbClr val="A74F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743450" y="3557587"/>
            <a:ext cx="2705100" cy="1304925"/>
          </a:xfrm>
          <a:prstGeom prst="roundRect">
            <a:avLst>
              <a:gd fmla="val 11678" name="adj"/>
            </a:avLst>
          </a:prstGeom>
          <a:solidFill>
            <a:srgbClr val="8F2F56"/>
          </a:solidFill>
          <a:ln cap="flat" cmpd="sng" w="9525">
            <a:solidFill>
              <a:srgbClr val="A74F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677150" y="3557587"/>
            <a:ext cx="2705100" cy="1304925"/>
          </a:xfrm>
          <a:prstGeom prst="roundRect">
            <a:avLst>
              <a:gd fmla="val 11678" name="adj"/>
            </a:avLst>
          </a:prstGeom>
          <a:solidFill>
            <a:srgbClr val="8F2F56"/>
          </a:solidFill>
          <a:ln cap="flat" cmpd="sng" w="9525">
            <a:solidFill>
              <a:srgbClr val="A74F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7576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125" y="37576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6825" y="37576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2422921" y="609600"/>
            <a:ext cx="73461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LINEAMIENTOS DE EXPOSICIÓN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2239267" y="895350"/>
            <a:ext cx="771346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¡Gracias por su atención!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2422921" y="1628775"/>
            <a:ext cx="73461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Sesión de Preguntas y Respuestas — Proyecto Robot Sumo STM32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721643" y="4062412"/>
            <a:ext cx="2881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Minutos Máximo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721643" y="4319587"/>
            <a:ext cx="28813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Exposición fluida para evitar penalización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4655343" y="4062412"/>
            <a:ext cx="2881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Min Q&amp;A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4655343" y="4319587"/>
            <a:ext cx="28813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Atención a retroalimentación del docente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7589043" y="4062412"/>
            <a:ext cx="2881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Participación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7589043" y="4319587"/>
            <a:ext cx="28813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CF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Intervención equitativa de los integrantes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